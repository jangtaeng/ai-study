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논문 발표 · 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BERT는 어떻게 생겼는가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구조와 입력 표현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"BERT는 사실, Transformer Encoder를 깊게 쌓은 것이다."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2  ·  Model Architecture &amp; Input Representation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BERT-Base vs BERT-Large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사이즈로 발표된 모델 스펙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549640" y="228600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11480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73152" cy="3200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BERT-Base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GPT와 동일 크기 (통제 변인)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 (Layers)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2331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6791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 (Hidden)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640" y="2679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0266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(Heads)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026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3741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FFN (4H)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3374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3,072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110M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31520" y="4187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파라미터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280160"/>
            <a:ext cx="411480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280160"/>
            <a:ext cx="73152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BERT-Large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2920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깊고 더 넓은 모델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2331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 (Layers)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0" y="2331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26791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 (Hidden)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0" y="2679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1,024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30266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(Heads)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2320" y="3026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0" y="33741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FFN (4H)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32320" y="3374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4,096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0" y="3794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340M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5029200" y="4187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파라미터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841248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BERT는 새 연산이 아니라, 검증된 Transformer Encoder를 깊고 넓게 쌓은 것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표현 — 시작은 이상한 분해부터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Figure 2의 예시 문장을 보면 뭔가 어색합니다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549640" y="228600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33272" y="1828800"/>
            <a:ext cx="704088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8288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[CLS]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01368" y="1828800"/>
            <a:ext cx="402336" cy="50292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1368" y="182880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67712" y="1828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1828800"/>
            <a:ext cx="402336" cy="50292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82880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00984" y="1828800"/>
            <a:ext cx="603504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0984" y="182880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68496" y="1828800"/>
            <a:ext cx="704088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68496" y="18288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[SEP]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36592" y="1828800"/>
            <a:ext cx="402336" cy="50292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82880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02936" y="1828800"/>
            <a:ext cx="704088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02936" y="18288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71032" y="1828800"/>
            <a:ext cx="603504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71032" y="182880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38544" y="1828800"/>
            <a:ext cx="704088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544" y="18288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06640" y="1828800"/>
            <a:ext cx="704088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18288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[SEP]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2784" y="2423160"/>
            <a:ext cx="717804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72784" y="2423160"/>
            <a:ext cx="36576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54012" y="2423160"/>
            <a:ext cx="36576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playing</a:t>
            </a:r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200" y="3749040"/>
            <a:ext cx="841248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왜 "playing"이 "play"와 "##ing"으로 쪼개졌을까?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4008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"##" 표시 = "앞 토큰과 붙는 subword"라는 의미 — 다음 슬라이드에서 자세히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WordPiece 토크나이저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단어가 아닌 'subword' 단위로 자르는 이유 3가지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549640" y="228600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41248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vocabulary 크기 = </a:t>
            </a:r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30,000개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서브워드 표시 = </a:t>
            </a:r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(앞 토큰과 붙는 조각)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67004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11680"/>
            <a:ext cx="2670048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286000"/>
            <a:ext cx="640080" cy="6400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OOV 문제 해결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Out-of-Vocabulary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 단어는 사실상 무한. 자주 등장하는 subword 3만 개를 조합해 거의 모든 단어를 표현.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64408" y="2011680"/>
            <a:ext cx="267004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4408" y="2011680"/>
            <a:ext cx="267004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38728" y="2286000"/>
            <a:ext cx="640080" cy="64008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872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493008" y="30632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형태론적 일반화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93008" y="338328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Morphological Generalization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93008" y="37033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play, playing, played → 같은 어근 "play"를 공유. 모델이 어근 의미를 학습 가능.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71616" y="2011680"/>
            <a:ext cx="267004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2011680"/>
            <a:ext cx="267004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45936" y="2286000"/>
            <a:ext cx="640080" cy="6400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300216" y="30632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Vocabulary 크기 제어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0216" y="338328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Vocabulary Size Control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0216" y="37033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단위 = 수십만 개로 폭발. Subword로 30K에 묶어 효율적인 임베딩 테이블 유지.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 토큰 3가지 — BERT의 시그니처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[CLS] · [SEP] · [MASK]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549640" y="228600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41248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73152" cy="1143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[CLS]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307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앞에 무조건 붙는 분류 토큰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1581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모든 시퀀스의 첫 번째 토큰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최종 hidden vector C ∈ R^H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= 문장 전체 요약 벡터 → 분류 태스크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947672"/>
            <a:ext cx="630936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9476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주의: NSP만 학습된 [CLS]는 fine-tuning 전까지 의미 있는 표현이 아님 (논문 각주 6)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414016"/>
            <a:ext cx="841248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14016"/>
            <a:ext cx="7315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968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[SEP]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Separator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2532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문장을 분리하는 토큰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0" y="28072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두 sentence 사이 + 각 끝에 위치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예: [CLS] 문장A [SEP] 문장B [SEP]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QA, NLI 등 텍스트 쌍 태스크에 필수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3172968"/>
            <a:ext cx="6309360" cy="29260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317296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Segment 임베딩과 함께 동작 — 어디까지가 A이고 B인지 모델에 알려줌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639312"/>
            <a:ext cx="841248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39312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22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[MASK]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" y="4261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Mask (사전학습용)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68880" y="37581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Masked LM에서 가려진 토큰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68880" y="403250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사전학습 시 토큰의 15%를 마스킹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Pre-training ↔ Fine-tuning mismatch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완화 트릭: 80% [MASK] / 10% 랜덤 / 10% 원본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68880" y="4398264"/>
            <a:ext cx="630936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439826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Fine-tuning 시에는 등장하지 않음 — 그래서 위 트릭이 필요함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임베딩의 합 (Figure 2 핵심)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E_input = E_token + E_segment + E_position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549640" y="228600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80160" y="1325880"/>
            <a:ext cx="566928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325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[CLS]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83664" y="1325880"/>
            <a:ext cx="566928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83664" y="1325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87168" y="1325880"/>
            <a:ext cx="566928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325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90672" y="1325880"/>
            <a:ext cx="566928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325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94176" y="1325880"/>
            <a:ext cx="566928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94176" y="1325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[SEP]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97680" y="1325880"/>
            <a:ext cx="566928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3258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178308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19842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E_tok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280160" y="1783080"/>
            <a:ext cx="566928" cy="3840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80160" y="17830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E_CLS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83664" y="1783080"/>
            <a:ext cx="566928" cy="3840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883664" y="17830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E_my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87168" y="1783080"/>
            <a:ext cx="566928" cy="3840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87168" y="17830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E_dog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090672" y="1783080"/>
            <a:ext cx="566928" cy="3840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90672" y="17830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E_cute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94176" y="1783080"/>
            <a:ext cx="566928" cy="3840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94176" y="17830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E_SEP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97680" y="1783080"/>
            <a:ext cx="566928" cy="3840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297680" y="17830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18304" y="21671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" y="23500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25511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E_seg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280160" y="2350008"/>
            <a:ext cx="56692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280160" y="23500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883664" y="2350008"/>
            <a:ext cx="56692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883664" y="23500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E_A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487168" y="2350008"/>
            <a:ext cx="56692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487168" y="23500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E_A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090672" y="2350008"/>
            <a:ext cx="56692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090672" y="23500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E_A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94176" y="2350008"/>
            <a:ext cx="56692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694176" y="23500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E_A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297680" y="2350008"/>
            <a:ext cx="56692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297680" y="23500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E_B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18304" y="27340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57200" y="29169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311810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E_pos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280160" y="2916936"/>
            <a:ext cx="56692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280160" y="291693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883664" y="2916936"/>
            <a:ext cx="56692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883664" y="291693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E_1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487168" y="2916936"/>
            <a:ext cx="56692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487168" y="291693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E_2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090672" y="2916936"/>
            <a:ext cx="56692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090672" y="291693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E_3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694176" y="2916936"/>
            <a:ext cx="56692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694176" y="291693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E_4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297680" y="2916936"/>
            <a:ext cx="56692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297680" y="291693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E_5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532120" y="1188720"/>
            <a:ext cx="3337560" cy="3383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15000" y="1298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임베딩, 차원 동일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5715000" y="1755648"/>
            <a:ext cx="164592" cy="16459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4360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85800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(30,000 × 768)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94360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WordPiece vocabulary 룩업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715000" y="235000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4360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85800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 × 768)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94360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두 벡터만 존재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715000" y="294436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4360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Position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85800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(512 × 768)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94360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가능 — Transformer와 차이!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669280" y="3657600"/>
            <a:ext cx="3108960" cy="8412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0644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왜 concat이 아니라 sum?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5806440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Concat = 차원 3배 → 비효율적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Sum도 모델이 직교 부분공간에 분리해 사용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57200" y="4617720"/>
            <a:ext cx="84124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08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시퀀스 길이 = 512  ·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Attention이 O(L²)이라 학습 시 90%는 L=128로 진행 (부록 A.2)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텐서 Shape의 흐름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Encoder는 입력 shape을 보존한다 — 핵심 통찰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549640" y="228600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21208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88720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IDs (입력)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1887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128)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586484"/>
            <a:ext cx="27432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55064"/>
            <a:ext cx="521208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655064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Embedding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65506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128, 768)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2052828"/>
            <a:ext cx="27432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21408"/>
            <a:ext cx="521208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121408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Segment Embedding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12140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128, 768)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2519172"/>
            <a:ext cx="27432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587752"/>
            <a:ext cx="521208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587752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Position Embedding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2587752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128, 768)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17520" y="2985516"/>
            <a:ext cx="27432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054096"/>
            <a:ext cx="521208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054096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LayerNorm + Dropout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3054096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128, 768)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3451860"/>
            <a:ext cx="27432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520440"/>
            <a:ext cx="521208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5204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 Layer × 12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0" y="35204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128, 768)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017520" y="4091940"/>
            <a:ext cx="27432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160520"/>
            <a:ext cx="5212080" cy="393192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160520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출력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0" y="41605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128, 768)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1188720"/>
            <a:ext cx="292608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통찰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1554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Transformer Encoder는 입력 shape을 보존한다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26480" y="2103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(B, L) → (B, L, H) 한 번 들어 올린 후, 12층 동안 (B, L, H) 그대로 유지하며 표현만 정교화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43600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출력에서 사용하는 2가지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43600" y="3108960"/>
            <a:ext cx="29260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0" y="3108960"/>
            <a:ext cx="64008" cy="7498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output[:, 0, :]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2648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[CLS] 위치 (B, 768) · 분류 태스크용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43600" y="3931920"/>
            <a:ext cx="29260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393192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T_i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output[:, i, :]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2648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토큰 위치 · NER / QA 등 토큰 레벨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 구현 — 임베딩 레이어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Figure 2 전체를 코드 30줄로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549640" y="228600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6692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80160"/>
            <a:ext cx="5486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BERTEmbedding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(nn.Module):
</a:t>
            </a:r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vocab=30000, H=768,
                 max_len=512, n_seg=2):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세 가지 임베딩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self.token_emb    = nn.Embedding(vocab, H)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self.segment_emb  = nn.Embedding(n_seg, H)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self.position_emb = nn.Embedding(max_len, H)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self.norm    = nn.LayerNorm(H)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self.dropout = nn.Dropout(0.1)
</a:t>
            </a:r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input_ids, segment_ids):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B, L = input_ids.shape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pos_ids = torch.arange(L).expand(B, L)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세 임베딩의 합 (Figure 2)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(self.token_emb(input_ids)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+ self.segment_emb(segment_ids)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+ self.position_emb(pos_ids))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self.dropout(self.norm(x))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x  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(B, L, 768)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1188720"/>
            <a:ext cx="25146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261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→ 출력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input_ids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(B, L)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segment_ids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(B, 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(B, L, 768)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55080" y="2331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3가지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2724912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2280" y="26517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nn.Embedding 3개를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더한다 (sum)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3438144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336499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Position ID는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torch.arange로 생성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4151376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407822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LayerNorm → Dropout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(BERT 관례)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 구현 — BERT 전체 골격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+ Encoder × 12 = 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549640" y="228600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6692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80160"/>
            <a:ext cx="5486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(nn.Module):
</a:t>
            </a:r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vocab=30000, H=768,
                 n_layers=12, n_heads=12):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임베딩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self.embedding = BERTEmbedding(vocab, H)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Transformer Encoder 스택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layer = nn.TransformerEncoderLayer(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d_model=H, nhead=n_heads,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dim_feedforward=</a:t>
            </a:r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4*H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</a:t>
            </a:r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 3072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activation=</a:t>
            </a:r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'gelu'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 ReLU 아님!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batch_first=True)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self.encoder = nn.TransformerEncoder(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layer, num_layers=n_layers)
</a:t>
            </a:r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input_ids, segment_ids):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self.embedding(input_ids, segment_ids)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self.encoder(x)        </a:t>
            </a:r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(B, L, 768)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x, x[:, 0]   </a:t>
            </a:r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T_i, 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55080" y="1188720"/>
            <a:ext cx="2514600" cy="11887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활성화 함수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 = ReLU
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 = GELU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Gaussian Error Linear Unit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(Hendrycks &amp; Gimpel, 2016)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55080" y="2560320"/>
            <a:ext cx="251460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이게 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2971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100줄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53796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정도면 골격 완성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3931920"/>
            <a:ext cx="3657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023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연산 없음.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있는 부품의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영리한 조립.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Fine-tuning은 단순하다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사전학습한 BERT 위에 Linear 1개만 얹으면 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549640" y="228600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11480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태스크  (예: SST-2)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3931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BERTForClassification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          nn.Module):
</a:t>
            </a:r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bert, K):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super().__init__()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self.bert = bert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self.cls = nn.Linear(768, K)
</a:t>
            </a:r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ids, seg):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_, </a:t>
            </a:r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self.bert(ids, seg)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C: (B, 768)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self.cls(</a:t>
            </a:r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(B, K)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1480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레벨 태스크  (예: NER)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645920"/>
            <a:ext cx="3931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BERTForTokenCls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          nn.Module):
</a:t>
            </a:r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bert, n_tags):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super().__init__()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self.bert = bert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self.cls = nn.Linear(768, n_tags)
</a:t>
            </a:r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ids, seg):
</a:t>
            </a:r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_ = self.bert(ids, seg)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T: (B, L, 768)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self.cls(</a:t>
            </a:r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(B, L, n_tags)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841248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434840"/>
            <a:ext cx="7315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434840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BERT의 진짜 강점: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거대 사전학습 모델 위에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 1개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얹어서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NLP 태스크 최고 성능</a:t>
            </a:r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 Cloud TPU 한 대 · 1시간 안에 재현 가능.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2286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본 4가지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93192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916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46304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057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= Transformer Encoder × 12 (Base) 또는 24 (Large). 1.1억 / 3.4억 파라미터.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600200"/>
            <a:ext cx="393192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916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62356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표현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23560" y="2057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+ Segment + Position 세 임베딩의 합. WordPiece 토큰화, [CLS]/[SEP]로 구조화.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393192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260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463040" y="2971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Shape 흐름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291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(B, L) → (B, L, H) → 모든 레이어 통과하며 (B, L, H) 유지. C와 T_i를 활용.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393192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9260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5623560" y="2971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23560" y="3291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 100줄로 골격 완성. 새 연산이 아니라 검증된 부품의 영리한 조립.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251960"/>
            <a:ext cx="809244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2519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그러면 이런 모델을 어떻게 학습시킬까?  </a:t>
            </a:r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Masked LM · Next Sentence Prediction은 다음 발표자에게서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BERT — 모델 구조와 입력 표현</dc:title>
  <dc:subject>PptxGenJS Presentation</dc:subject>
  <dc:creator>발표자 2</dc:creator>
  <cp:lastModifiedBy>발표자 2</cp:lastModifiedBy>
  <cp:revision>1</cp:revision>
  <dcterms:created xsi:type="dcterms:W3CDTF">2026-05-15T06:55:17Z</dcterms:created>
  <dcterms:modified xsi:type="dcterms:W3CDTF">2026-05-15T06:55:17Z</dcterms:modified>
</cp:coreProperties>
</file>