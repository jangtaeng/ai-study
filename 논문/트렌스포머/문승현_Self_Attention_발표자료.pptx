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731520"/>
            <a:ext cx="2286000" cy="2286000"/>
          </a:xfrm>
          <a:prstGeom prst="ellipse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731520" y="3840480"/>
            <a:ext cx="2286000" cy="22860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ALL YOU NEED · 스터디 발표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수식 파헤치기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· K · V 부터 Attention 계산까지, 행렬 내적도 함께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160520"/>
            <a:ext cx="13716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 5번 파트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발표 흐름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80160"/>
            <a:ext cx="73152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447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Self-Attention이란?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정의와 직관적 비유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280160"/>
            <a:ext cx="73152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4447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66160" y="1874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· K · V 개념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Query, Key, Value의 역할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28016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280160"/>
            <a:ext cx="73152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4447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0" y="1874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 지식: 벡터의 내적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행렬 곱셈을 쉽게 이해하기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01752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017520"/>
            <a:ext cx="73152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1821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1520" y="3611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수식 단계별 분해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4023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 → 스케일링 → softmax → 가중합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37560" y="301752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37560" y="3017520"/>
            <a:ext cx="73152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3566160" y="31821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566160" y="3611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숫자로 직접 계산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66160" y="4023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예시로 전체 흐름 따라가기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DEFINITION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Self-Attention은 무엇인가?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813816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단어가 </a:t>
            </a:r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문장 안의 모든 단어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살펴보고,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 자신의 의미를 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다시 만드는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메커니즘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 문장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3200400"/>
            <a:ext cx="8138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46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animal didn’t cross the street because </a:t>
            </a:r>
            <a:pPr indent="0" marL="0">
              <a:buNone/>
            </a:pPr>
            <a:r>
              <a:rPr lang="en-US" sz="16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pPr indent="0" marL="0">
              <a:buNone/>
            </a:pPr>
            <a:r>
              <a:rPr lang="en-US" sz="16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too tired.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40233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“it”이 가리키는 단어는? → </a:t>
            </a:r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이라는 걸 모델이 알아내야 합니다.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43891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Self-Attention은 “it”이 “animal”을 강하게 “주의(attend)” 하도록 학습합니다.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INTUITION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도서관 비유로 이해하기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8138160" cy="7772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34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</a:t>
            </a:r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도서관에서 책을 찾는 과정을 떠올려 보세요.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5544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알고 싶은 주제(질문)와 책의 색인(키워드)이 잘 맞으면, 그 책의 내용을 가져옵니다.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194560"/>
            <a:ext cx="260604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40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(Q)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880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 / 검색어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2004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“내가 지금 무엇을 찾고 있나?”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91840" y="219456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2194560"/>
            <a:ext cx="260604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2240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(K)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2880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색인 / 키워드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32004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“각 책이 어떤 주제인가?”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80760" y="219456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2194560"/>
            <a:ext cx="260604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2240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(V)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63640" y="2880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본문 / 정보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32004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“책의 실제 내용”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INTUITION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문장 안에서 Q, K, V 작동 방식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813816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문장: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 animal  didn’t  cross  the  street  because  </a:t>
            </a:r>
            <a:pPr indent="0" marL="0">
              <a:buNone/>
            </a:pPr>
            <a:r>
              <a:rPr lang="en-US" sz="1400" b="1" u="sng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was …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57400"/>
            <a:ext cx="8138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057400"/>
            <a:ext cx="91440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48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“it”의 Query 만들기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“it”이 묻습니다 — “나는 누구를 가리키지?”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017520"/>
            <a:ext cx="8138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3017520"/>
            <a:ext cx="91440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108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모든 단어의 Key와 비교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429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단어의 Key와 유사도(점수)를 계산합니다.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animal과의 점수가 가장 높게 나옵니다.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977640"/>
            <a:ext cx="8138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977640"/>
            <a:ext cx="9144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69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점수만큼 Value를 섞기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4389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animal의 Value를 가장 많이, 다른 단어는 조금씩 가져와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“it”의 새로운 표현을 만듭니다.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FORMULA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이게 오늘의 주인공입니다.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(Q, K, V) = softmax</a:t>
            </a:r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pPr algn="ctr" indent="0" marL="0">
              <a:buNone/>
            </a:pPr>
            <a:r>
              <a:rPr lang="en-US" sz="30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QKᵀ </a:t>
            </a:r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pPr algn="ctr" indent="0" marL="0">
              <a:buNone/>
            </a:pPr>
            <a:r>
              <a:rPr lang="en-US" sz="30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√d</a:t>
            </a:r>
            <a:pPr algn="ctr" indent="0" marL="0">
              <a:buNone/>
            </a:pPr>
            <a:r>
              <a:rPr lang="en-US" sz="2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ₖ</a:t>
            </a:r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 V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수식을 4단계로 분해해서 볼 거예요 ↓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91540" y="3611880"/>
            <a:ext cx="173736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982980" y="3657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82980" y="3977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 계산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2980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QKᵀ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66060" y="3611880"/>
            <a:ext cx="173736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857500" y="3657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57500" y="3977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스케일링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57500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√dₖ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40580" y="3611880"/>
            <a:ext cx="173736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732020" y="3657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32020" y="3977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32020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확률화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15100" y="3611880"/>
            <a:ext cx="173736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606540" y="3657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06540" y="3977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가중합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06540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V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PREREQUISITE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잠깐!  수식 보기 전에…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9144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25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 K, V는 </a:t>
            </a:r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‘행렬’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입니다. 그리고 수식에는 </a:t>
            </a:r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행렬 곱셈(QKᵀ)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등장합니다.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먼저 “두 벡터의 내적”과 “행렬 곱셈”을 짧게 짚고 넘어가겠습니다.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468880"/>
            <a:ext cx="3977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468880"/>
            <a:ext cx="397764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514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벡터의 내적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숫자 묶음을 한 개의 ‘유사도 숫자’로 만드는 연산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468880"/>
            <a:ext cx="3977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2468880"/>
            <a:ext cx="397764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514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30632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행렬 곱셈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92040" y="36118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내적을 한 번에 묶어서 계산하는 것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A · DOT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벡터의 내적: 어떻게 계산할까?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=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그냥 숫자 묶음입니다 (예: </a:t>
            </a:r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 3, 1]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8138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벡터의 내적 = 같은 자리끼리 곱하고, 다 더한다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</a:t>
            </a:r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[ 2,  3,  1 ]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</a:t>
            </a:r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[ 1,  0,  4 ]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b = </a:t>
            </a:r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</a:t>
            </a:r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 +  (</a:t>
            </a:r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</a:t>
            </a:r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 +  (</a:t>
            </a:r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</a:t>
            </a:r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=  2  +  0  +  4  =  </a:t>
            </a:r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2920" y="4160520"/>
            <a:ext cx="813816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206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벡터를 ‘섞어서’ 하나의 숫자로 만드는 연산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A · INTUITION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내적의 의미:  비슷할수록 큰 값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벡터가 ‘비슷한 방향’이면 내적이 크고, ‘다른 방향’이면 작아집니다.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9776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745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비슷한 두 벡터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[ 3,  4 ]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[ 2,  3 ]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(3×2) + (4×3) = 6 + 12 = 18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</a:t>
            </a:r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3520440" cy="320040"/>
          </a:xfrm>
          <a:prstGeom prst="rect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0233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큰 값  →  유사도 높음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691640"/>
            <a:ext cx="39776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8745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방향의 두 벡터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23317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[ 3,  4 ]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26517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[ -1,  1 ]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30632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(3×−1) + (4×1) = −3 + 4 = 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34747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</a:t>
            </a:r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892040" y="4023360"/>
            <a:ext cx="3520440" cy="32004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40233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값  →  유사도 낮음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5720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</a:t>
            </a:r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Q와 K의 내적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 “Query와 Key가 얼마나 비슷한가”를 재는 </a:t>
            </a:r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유사도 점수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됩니다.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 · MATRIX MULTIPLICATION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행렬 곱셈은 ‘여러 내적을 한 번에’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행렬 = 벡터를 </a:t>
            </a:r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줄 쌓아 놓은 것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단어 3개라면 → 3행짜리 행렬.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8138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(3 × 2)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[ 2  3 ]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[ 1  0 ]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[ 4  2 ]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697480" y="237744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4612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(2 × 2)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46120" y="21031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[ 1  2 ]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[ 0  4 ]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74920" y="237744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2356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 (3 × 2)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23560" y="210312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 2   16 ]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 1    2 ]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 4   16 ]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결과 칸 = A의 한 행과 B의 한 열의 ‘내적’입니다.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297680"/>
            <a:ext cx="813816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297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× Kᵀ 는 “모든 단어가 모든 단어와 얼마나 비슷한가”를 한 번에 계산하는 것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B+ · PARALLEL COMPUTATION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행렬 곱셈은 GPU에서 왜 빠를까?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8138160" cy="64008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887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1887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행렬의 </a:t>
            </a:r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칸이 서로 독립적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한 칸 계산이 다른 칸을 기다리지 않음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574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3 결과 행렬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43100" y="2377440"/>
            <a:ext cx="365760" cy="365760"/>
          </a:xfrm>
          <a:prstGeom prst="rect">
            <a:avLst/>
          </a:prstGeom>
          <a:solidFill>
            <a:srgbClr val="0D9488">
              <a:alpha val="8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4310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08860" y="2377440"/>
            <a:ext cx="365760" cy="365760"/>
          </a:xfrm>
          <a:prstGeom prst="rect">
            <a:avLst/>
          </a:prstGeom>
          <a:solidFill>
            <a:srgbClr val="0D9488">
              <a:alpha val="68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0886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74620" y="2377440"/>
            <a:ext cx="365760" cy="365760"/>
          </a:xfrm>
          <a:prstGeom prst="rect">
            <a:avLst/>
          </a:prstGeom>
          <a:solidFill>
            <a:srgbClr val="0D9488">
              <a:alpha val="56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462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943100" y="2743200"/>
            <a:ext cx="365760" cy="365760"/>
          </a:xfrm>
          <a:prstGeom prst="rect">
            <a:avLst/>
          </a:prstGeom>
          <a:solidFill>
            <a:srgbClr val="0D9488">
              <a:alpha val="68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4310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308860" y="2743200"/>
            <a:ext cx="365760" cy="365760"/>
          </a:xfrm>
          <a:prstGeom prst="rect">
            <a:avLst/>
          </a:prstGeom>
          <a:solidFill>
            <a:srgbClr val="0D9488">
              <a:alpha val="56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0886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674620" y="2743200"/>
            <a:ext cx="365760" cy="365760"/>
          </a:xfrm>
          <a:prstGeom prst="rect">
            <a:avLst/>
          </a:prstGeom>
          <a:solidFill>
            <a:srgbClr val="0D9488">
              <a:alpha val="8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7462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943100" y="3108960"/>
            <a:ext cx="365760" cy="365760"/>
          </a:xfrm>
          <a:prstGeom prst="rect">
            <a:avLst/>
          </a:prstGeom>
          <a:solidFill>
            <a:srgbClr val="0D9488">
              <a:alpha val="56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4310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308860" y="3108960"/>
            <a:ext cx="365760" cy="365760"/>
          </a:xfrm>
          <a:prstGeom prst="rect">
            <a:avLst/>
          </a:prstGeom>
          <a:solidFill>
            <a:srgbClr val="0D9488">
              <a:alpha val="8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0886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674620" y="3108960"/>
            <a:ext cx="365760" cy="365760"/>
          </a:xfrm>
          <a:prstGeom prst="rect">
            <a:avLst/>
          </a:prstGeom>
          <a:solidFill>
            <a:srgbClr val="0D9488">
              <a:alpha val="68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7462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35204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9칸을 한꺼번에 계산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196596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0574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vs GPU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246888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코어 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수십 개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순차 처리에 강함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코어 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수천 개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병렬 처리에 강함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GPU 코어가 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칸씩 맡아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한꺼번에 처리합니다.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" y="4023360"/>
            <a:ext cx="813816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40233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51560" y="4023360"/>
            <a:ext cx="7543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→ h₂ → h₃ → ...    </a:t>
            </a:r>
            <a:pPr indent="0" marL="0">
              <a:buNone/>
            </a:pPr>
            <a:r>
              <a:rPr lang="en-US" sz="13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앞 결과를 기다려야 함  (직렬)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5800" y="441655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51560" y="4416552"/>
            <a:ext cx="7543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단어 동시에     </a:t>
            </a:r>
            <a:pPr indent="0" marL="0">
              <a:buNone/>
            </a:pPr>
            <a:r>
              <a:rPr lang="en-US" sz="13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Transformer가 빠른 핵심 비결!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STEP 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0:  입력에서 Q, K, V를 만든다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단어 = 한 벡터(임베딩). 단어 n개를 쌓으면 입력 행렬 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(크기 n × dₘ).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81381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94560"/>
            <a:ext cx="109728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45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1680" y="2587752"/>
            <a:ext cx="8229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011680" y="2240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Wᴼ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0" y="1828800"/>
            <a:ext cx="1371600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0" y="18288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108960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X · W^Q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08960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행렬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1828800"/>
            <a:ext cx="1371600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8288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937760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X · W^K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행렬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1828800"/>
            <a:ext cx="1371600" cy="1143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18288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766560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X · W^V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0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행렬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657600"/>
            <a:ext cx="8138160" cy="10058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7490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핵심: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 K, V는 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입력 X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에서 나오지만, 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서로 다른 가중치 W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곱해 만들어진 </a:t>
            </a:r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“역할이 다른 세 가지 표현”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입니다. (W^Q, W^K, W^V는 학습됩니다)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STEP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 점수 행렬  =  Q × Kᵀ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단어 쌍의 ‘유사도’를 한 번에 구합니다.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63040" y="17373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65960" y="17373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68880" y="17373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63040" y="2103120"/>
            <a:ext cx="502920" cy="502920"/>
          </a:xfrm>
          <a:prstGeom prst="rect">
            <a:avLst/>
          </a:prstGeom>
          <a:solidFill>
            <a:srgbClr val="0D9488">
              <a:alpha val="5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965960" y="2103120"/>
            <a:ext cx="502920" cy="502920"/>
          </a:xfrm>
          <a:prstGeom prst="rect">
            <a:avLst/>
          </a:prstGeom>
          <a:solidFill>
            <a:srgbClr val="0D9488">
              <a:alpha val="14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468880" y="2103120"/>
            <a:ext cx="502920" cy="502920"/>
          </a:xfrm>
          <a:prstGeom prst="rect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463040" y="2606040"/>
            <a:ext cx="502920" cy="502920"/>
          </a:xfrm>
          <a:prstGeom prst="rect">
            <a:avLst/>
          </a:prstGeom>
          <a:solidFill>
            <a:srgbClr val="0D9488">
              <a:alpha val="14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965960" y="2606040"/>
            <a:ext cx="502920" cy="50292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6596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468880" y="2606040"/>
            <a:ext cx="502920" cy="502920"/>
          </a:xfrm>
          <a:prstGeom prst="rect">
            <a:avLst/>
          </a:prstGeom>
          <a:solidFill>
            <a:srgbClr val="0D9488">
              <a:alpha val="4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463040" y="3108960"/>
            <a:ext cx="502920" cy="502920"/>
          </a:xfrm>
          <a:prstGeom prst="rect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630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965960" y="3108960"/>
            <a:ext cx="502920" cy="502920"/>
          </a:xfrm>
          <a:prstGeom prst="rect">
            <a:avLst/>
          </a:prstGeom>
          <a:solidFill>
            <a:srgbClr val="0D9488">
              <a:alpha val="4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6596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468880" y="3108960"/>
            <a:ext cx="502920" cy="50292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688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3749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 행렬  (n × n)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0" y="1828800"/>
            <a:ext cx="4572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51960" y="19202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행렬을 어떻게 읽나요?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251960" y="233172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(i, j) 칸 = 단어 i가 단어 j에 얼마나 ‘주의’할지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예) “it” 행 → animal과 it 자신에 점수 높음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값이 클수록 더 관련 있다는 뜻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4297680"/>
            <a:ext cx="81381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4297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QKᵀ 는 ‘모든 Q행 × 모든 K행’의 내적을 한꺼번에 묶어서 만든 </a:t>
            </a:r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유사도 표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STEP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 √dₖ 로 나눠준다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813816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 =  </a:t>
            </a:r>
            <a:pPr algn="ctr" indent="0" marL="0">
              <a:buNone/>
            </a:pPr>
            <a:r>
              <a:rPr lang="en-US" sz="28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QKᵀ</a:t>
            </a:r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</a:t>
            </a:r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√dₖ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23317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 √dₖ 로 나눌까?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788920"/>
            <a:ext cx="3977640" cy="1874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89864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나누지 않으면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dₖ가 클수록 점수의 분산이 커짐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가장 큰 값만 1, 나머지는 거의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Softmax가 ‘딱딱’하게 굳어버림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4297680"/>
            <a:ext cx="3657600" cy="292608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297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≈ 0  →  학습 불가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788920"/>
            <a:ext cx="3977640" cy="1874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89864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25780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√dₖ 로 나누면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33832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분산이 1 근처로 정규화됨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Softmax가 부드럽게(soft) 동작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여러 단어를 골고루 살펴봄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4297680"/>
            <a:ext cx="3657600" cy="292608"/>
          </a:xfrm>
          <a:prstGeom prst="rect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4297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안정적 학습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STEP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 Softmax — 점수를 확률로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813816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softmax(z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ᵢ</a:t>
            </a:r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 =  </a:t>
            </a:r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eᶻⁱ</a:t>
            </a:r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</a:t>
            </a:r>
            <a:pPr algn="ctr" indent="0" marL="0">
              <a:buNone/>
            </a:pPr>
            <a:r>
              <a:rPr lang="en-US" sz="26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eᶻʲ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확률로 바꾸기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9718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값을 0~1 사이로,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합이 정확히 1이 되도록.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33172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977640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큰 값 강조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9718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지수함수가 큰 값과 작은 값의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차이를 더 벌려줍니다.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233172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66560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미분 가능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29718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‘부드러운(soft)’ 함수라서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역전파로 학습 가능.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794760"/>
            <a:ext cx="8138160" cy="96012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840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간단 예시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[2, 1, 0]   →   softmax(z) = [</a:t>
            </a:r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0.665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0.245,  0.090]    (합=1 ✓)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가장 큰 값(2)이 약 67%의 가중치를 가져갑니다.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STEP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 Value를 가중치만큼 섞는다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813816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=  </a:t>
            </a:r>
            <a:pPr algn="ctr" indent="0" marL="0">
              <a:buNone/>
            </a:pPr>
            <a:r>
              <a:rPr lang="en-US" sz="28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22860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단어의 ‘새 표현’ = 모든 단어의 Value를 가중치만큼 섞은 것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81381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80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예) </a:t>
            </a:r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“it”의 새 표현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2468880" cy="594360"/>
          </a:xfrm>
          <a:prstGeom prst="rect">
            <a:avLst/>
          </a:prstGeom>
          <a:solidFill>
            <a:srgbClr val="0D9488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3375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</a:t>
            </a:r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V(animal)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63240" y="3337560"/>
            <a:ext cx="182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00400" y="3337560"/>
            <a:ext cx="2468880" cy="594360"/>
          </a:xfrm>
          <a:prstGeom prst="rect">
            <a:avLst/>
          </a:prstGeom>
          <a:solidFill>
            <a:srgbClr val="F59E0B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33375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</a:t>
            </a:r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V(it)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23560" y="3337560"/>
            <a:ext cx="182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760720" y="3337560"/>
            <a:ext cx="2468880" cy="594360"/>
          </a:xfrm>
          <a:prstGeom prst="rect">
            <a:avLst/>
          </a:prstGeom>
          <a:solidFill>
            <a:srgbClr val="1E293B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0" y="33375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</a:t>
            </a:r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V(The)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" y="4343400"/>
            <a:ext cx="813816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343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“it”의 표현이 animal의 정보를 60% 머금게 됩니다 — 의미가 연결됨!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흐름을 한눈에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783080" cy="23774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48740" y="109728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134874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 계산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QKᵀ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단어 쌍의 유사도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32888" y="2560320"/>
            <a:ext cx="146304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697480" y="1371600"/>
            <a:ext cx="1783080" cy="23774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4700" y="109728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31470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97480" y="1828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스케일링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97480" y="2286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√dₖ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788920" y="30632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분산을 안정화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98848" y="2560320"/>
            <a:ext cx="146304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663440" y="1371600"/>
            <a:ext cx="1783080" cy="23774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80660" y="109728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528066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663440" y="1828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63440" y="2286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/ Σe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754880" y="30632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확률로 변환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64808" y="2560320"/>
            <a:ext cx="146304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629400" y="1371600"/>
            <a:ext cx="1783080" cy="23774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46620" y="109728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724662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629400" y="1828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가중합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29400" y="2286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V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720840" y="30632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Value를 섞는다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1148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Attention(Q, K, V) = softmax( QKᵀ / √dₖ ) V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NUMERIC EXAMPLE  (1/2)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숫자로 직접 계산해 봅시다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단어 3개,  d</a:t>
            </a:r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ₖ</a:t>
            </a:r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 로 단순화 (실제론 64).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260604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91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[ 1, 0 ]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[ 0, 1 ]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[ 1, 1 ]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69164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691640"/>
            <a:ext cx="260604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691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214884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[ 1, 0 ]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[ 0, 1 ]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[ 1, 1 ]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80760" y="169164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1691640"/>
            <a:ext cx="260604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691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214884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[ 1, 2 ]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[ 3, 4 ]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[ 5, 6 ]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3429000"/>
            <a:ext cx="81381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 점수 = QKᵀ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840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[ 1, 0, 1 ]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[ 0, 1, 1 ]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[ 1, 1, 2 ]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3520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 ÷ √2 ≈ 1.414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38404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[ 0.71, 0.00, 0.71 ]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[ 0.00, 0.71, 0.71 ]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[ 0.71, 0.71, 1.41 ]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NUMERIC EXAMPLE  (2/2)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→ Value 가중합 (1행만)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81381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 Softmax  (1번째 행만 계산)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= [0.71, 0.00, 0.71]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 = [2.03, 1.00, 2.03]    합 = 5.06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= [0.40, 0.20, 0.40]   </a:t>
            </a:r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1행과 3행에 각각 40%씩 ‘주의’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81381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346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 output = weights × 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0.40 × [1, 2]  +  0.20 × [3, 4]  +  0.40 × [5, 6]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[0.4 + 0.6 + 2.0,   0.8 + 0.8 + 2.4]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[ 3.0,  4.0 ]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← 첫 단어의 새로운 표현 ✨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2920" y="4434840"/>
            <a:ext cx="813816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44348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👏  이 과정을 모든 단어에 동시에(병렬로) 적용한 것이 Self-Attention입니다.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정리 5줄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8138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280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· K · V는 같은 입력 X에서 나온 세 가지 역할의 표현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8138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01168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920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QKᵀ = ‘모든 단어 쌍의 유사도’를 한 번에 계산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560320"/>
            <a:ext cx="8138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6517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560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√dₖ는 점수의 분산을 안정화 → 학습 가능하게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3200400"/>
            <a:ext cx="8138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29184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200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Softmax로 점수 → 합이 1인 ‘주의 가중치’로 변환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3840480"/>
            <a:ext cx="8138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93192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3840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× V → 의미가 통합된 새 표현 (병렬 계산 가능)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F59E0B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 ·  Q&amp;A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이렇게 설계했을까?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8138160" cy="6400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874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Q와 K를 같은 행렬로 두면 안 될까? (점수 행렬이 대칭이 되면 문제는?)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651760"/>
            <a:ext cx="8138160" cy="6400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65176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V를 K와 따로 분리한 이유는? (검색용 키와 ‘가져올 내용’이 왜 달라야 할까?)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429000"/>
            <a:ext cx="8138160" cy="6400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42900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스케일링을 dₖ가 아니라 정확히 √dₖ로 한 이유는?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434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  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Self-Attention 핵심 수식</dc:title>
  <dc:subject>PptxGenJS Presentation</dc:subject>
  <dc:creator>PptxGenJS</dc:creator>
  <cp:lastModifiedBy>PptxGenJS</cp:lastModifiedBy>
  <cp:revision>1</cp:revision>
  <dcterms:created xsi:type="dcterms:W3CDTF">2026-05-09T17:21:02Z</dcterms:created>
  <dcterms:modified xsi:type="dcterms:W3CDTF">2026-05-09T17:21:02Z</dcterms:modified>
</cp:coreProperties>
</file>