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A2540"/>
                </a:solidFill>
                <a:latin typeface="Calibri"/>
              </a:defRPr>
            </a:pPr>
            <a:r>
              <a:rPr lang="en-US" sz="1200" b="0" i="0" u="none" strike="noStrike">
                <a:solidFill>
                  <a:srgbClr val="0A2540"/>
                </a:solidFill>
                <a:latin typeface="Calibri"/>
              </a:rPr>
              <a:t>ImageNet: Plain Network Training Error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Training Error (%)</c:v>
                </c:pt>
              </c:strCache>
            </c:strRef>
          </c:tx>
          <c:spPr>
            <a:solidFill>
              <a:srgbClr val="065A82">
                <a:alpha val="80000"/>
              </a:srgbClr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0A2540"/>
                    </a:solidFill>
                    <a:latin typeface="Arial"/>
                  </a:defRPr>
                </a:pPr>
                <a:endParaRPr lang="ko-K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18-layer plain</c:v>
                </c:pt>
                <c:pt idx="1">
                  <c:v>34-layer plain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27.94</c:v>
                </c:pt>
                <c:pt idx="1">
                  <c:v>28.54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CFB-4383-A4A3-1190023B5FA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293B"/>
                </a:solidFill>
                <a:latin typeface="Arial"/>
              </a:defRPr>
            </a:pPr>
            <a:endParaRPr lang="ko-K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9"/>
          <c:min val="27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ko-K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2474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3474720"/>
            <a:ext cx="3200400" cy="3200400"/>
          </a:xfrm>
          <a:prstGeom prst="ellipse">
            <a:avLst/>
          </a:prstGeom>
          <a:solidFill>
            <a:srgbClr val="065A82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840480"/>
            <a:ext cx="2011680" cy="2011680"/>
          </a:xfrm>
          <a:prstGeom prst="ellipse">
            <a:avLst/>
          </a:prstGeom>
          <a:solidFill>
            <a:srgbClr val="21C1D6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600" dirty="0">
                <a:solidFill>
                  <a:srgbClr val="21C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· PAPER REVIEW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ResNet 핵심 기술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i="1" dirty="0">
                <a:solidFill>
                  <a:srgbClr val="21C1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Residual Learning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640080" y="3291840"/>
            <a:ext cx="548640" cy="36576"/>
          </a:xfrm>
          <a:prstGeom prst="rect">
            <a:avLst/>
          </a:prstGeom>
          <a:solidFill>
            <a:srgbClr val="21C1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474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인식 → 해결 아이디어 → 안정화 장치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4480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et al., 2015 · CVPR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6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목차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1645920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1C1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463040" y="166420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ResNet이 풀고 싶었던 문제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463040" y="1938528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가지 장벽: 기울기 소실과 성능 저하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463040" y="2194560"/>
            <a:ext cx="7132320" cy="9144"/>
          </a:xfrm>
          <a:prstGeom prst="rect">
            <a:avLst/>
          </a:prstGeom>
          <a:solidFill>
            <a:srgbClr val="E8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212848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1C1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463040" y="223113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기울기 소실 vs 성능 저하 문제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463040" y="2505456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원인과 해결 방식이 완전히 다른 두 문제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463040" y="2761488"/>
            <a:ext cx="7132320" cy="9144"/>
          </a:xfrm>
          <a:prstGeom prst="rect">
            <a:avLst/>
          </a:prstGeom>
          <a:solidFill>
            <a:srgbClr val="E8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779776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1C1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463040" y="279806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잔차 연결(Residual Connection)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63040" y="3072384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H(x) = F(x) + x — 구조적 해결책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1463040" y="3328416"/>
            <a:ext cx="7132320" cy="9144"/>
          </a:xfrm>
          <a:prstGeom prst="rect">
            <a:avLst/>
          </a:prstGeom>
          <a:solidFill>
            <a:srgbClr val="E8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346704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1C1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463040" y="33649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수학적 증명: 지름길의 힘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3639312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Backpropagation에서 '1'의 위력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463040" y="3895344"/>
            <a:ext cx="7132320" cy="9144"/>
          </a:xfrm>
          <a:prstGeom prst="rect">
            <a:avLst/>
          </a:prstGeom>
          <a:solidFill>
            <a:srgbClr val="E8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913632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21C1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463040" y="39319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배치 정규화와 v2 구조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63040" y="420624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안정화 장치와 진화된 설계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463040" y="4462272"/>
            <a:ext cx="7132320" cy="9144"/>
          </a:xfrm>
          <a:prstGeom prst="rect">
            <a:avLst/>
          </a:prstGeom>
          <a:solidFill>
            <a:srgbClr val="E8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 핵심 기술 정리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13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34747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ResNet이 풀고 싶었던 문제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딥러닝 모델을 깊게 쌓으면 성능이 좋아질 것 같지만, 실제로는 두 가지 큰 장벽이 있었습니다.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3931920" cy="2651760"/>
          </a:xfrm>
          <a:prstGeom prst="rect">
            <a:avLst/>
          </a:prstGeom>
          <a:solidFill>
            <a:srgbClr val="E8F1F5"/>
          </a:solidFill>
          <a:ln w="12700">
            <a:solidFill>
              <a:srgbClr val="E8F1F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45920"/>
            <a:ext cx="73152" cy="265176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①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914400" y="20299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기울기 소실 문제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23957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Vanishing Gradient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8346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신호가 앞쪽 층까지 전달되지 못하는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수치적(Numerical) 문제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3794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ReLU, BN, 적절한 초기화로 상당 부분 해결됨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1645920"/>
            <a:ext cx="3931920" cy="2651760"/>
          </a:xfrm>
          <a:prstGeom prst="rect">
            <a:avLst/>
          </a:prstGeom>
          <a:solidFill>
            <a:srgbClr val="FDE8E8"/>
          </a:solidFill>
          <a:ln w="12700">
            <a:solidFill>
              <a:srgbClr val="FDE8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645920"/>
            <a:ext cx="73152" cy="265176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② ← ResNet의 타겟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0" y="20299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성능 저하 문제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029200" y="23957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Degradation Problem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28346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기울기는 잘 흘러도 층이 깊어지면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자체가 안 되는 최적화 문제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0" y="379476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ResNet이 해결하려는 진짜 주인공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 핵심 기술 정리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34747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기울기 소실 vs 성능 저하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겉으로는 비슷해 보이지만 원인과 해결 방식이 완전히 다릅니다.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508760"/>
          <a:ext cx="8046720" cy="246888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구분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기울기 소실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성능 저하 문제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26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성격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수치적 문제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(값의 소멸)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구조적/최적화 문제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(정답을 못 찾음)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관찰 지표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Gradient가 0에 가까워짐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Error가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깊은 망에서 더 높음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주요 원인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활성화 함수,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가중치 곱셈의 누적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깊은 층에서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Identity 학습의 난이도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A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ResNet 역할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BN과 함께 사용해 보조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DC26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잔차 연결로 직접 해결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40080" y="4251960"/>
            <a:ext cx="8046720" cy="457200"/>
          </a:xfrm>
          <a:prstGeom prst="rect">
            <a:avLst/>
          </a:prstGeom>
          <a:solidFill>
            <a:srgbClr val="0A25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0080" y="42519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핵심: 성능 저하는 과적합이 아닙니다 — 훈련 오차 자체가 높아지는 현상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 핵심 기술 정리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34747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성능 저하 문제의 실험적 증거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이론적으로는 더 깊은 모델이 적어도 얕은 모델만큼은 해야 합니다. 하지만...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40080" y="1508760"/>
          <a:ext cx="484632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5760720" y="1508760"/>
            <a:ext cx="2926080" cy="3108960"/>
          </a:xfrm>
          <a:prstGeom prst="rect">
            <a:avLst/>
          </a:prstGeom>
          <a:solidFill>
            <a:srgbClr val="E8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0" y="1691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kern="0" spc="6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WHY?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43600" y="19659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왜 더 깊은데 더 못할까?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943600" y="2423160"/>
            <a:ext cx="26517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21C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과적합이 아님
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훈련 오차도 높음
</a:t>
            </a:r>
            <a:r>
              <a:rPr lang="en-US" sz="1200" b="1" dirty="0">
                <a:solidFill>
                  <a:srgbClr val="21C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기울기 문제가 아님
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BN 덕분에 해결됨
</a:t>
            </a:r>
            <a:r>
              <a:rPr lang="en-US" sz="1200" b="1" dirty="0">
                <a:solidFill>
                  <a:srgbClr val="21C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최적화의 실패
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SGD가 단순한 Identity조차 찾지 못함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 핵심 기술 정리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13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34747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왜 '항등 사상'이 필요한가?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34층 모델은 앞쪽 18층을 학습한 뒤, 나머지 16층이 입력을 그대로 전달(항등 사상)만 해도 18층 모델과 같은 성능이 나와야 합니다.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8046720" cy="1417320"/>
          </a:xfrm>
          <a:prstGeom prst="rect">
            <a:avLst/>
          </a:prstGeom>
          <a:solidFill>
            <a:srgbClr val="E8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9202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18-layer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37360" y="1965960"/>
            <a:ext cx="36576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94560" y="1965960"/>
            <a:ext cx="36576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51760" y="1965960"/>
            <a:ext cx="36576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108960" y="1965960"/>
            <a:ext cx="36576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566160" y="1965960"/>
            <a:ext cx="36576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023360" y="1965960"/>
            <a:ext cx="36576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80560" y="1965960"/>
            <a:ext cx="36576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937760" y="1965960"/>
            <a:ext cx="36576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394960" y="1965960"/>
            <a:ext cx="36576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1938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⟶ 학습됨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22960" y="235915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34-layer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737360" y="2404872"/>
            <a:ext cx="36576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94560" y="2404872"/>
            <a:ext cx="36576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651760" y="2404872"/>
            <a:ext cx="36576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108960" y="2404872"/>
            <a:ext cx="36576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566160" y="2404872"/>
            <a:ext cx="36576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023360" y="2404872"/>
            <a:ext cx="36576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80560" y="2404872"/>
            <a:ext cx="36576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37760" y="2404872"/>
            <a:ext cx="36576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94960" y="2404872"/>
            <a:ext cx="365760" cy="228600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737360" y="2743200"/>
            <a:ext cx="137160" cy="182880"/>
          </a:xfrm>
          <a:prstGeom prst="rect">
            <a:avLst/>
          </a:prstGeom>
          <a:solidFill>
            <a:srgbClr val="21C1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920240" y="2743200"/>
            <a:ext cx="137160" cy="182880"/>
          </a:xfrm>
          <a:prstGeom prst="rect">
            <a:avLst/>
          </a:prstGeom>
          <a:solidFill>
            <a:srgbClr val="21C1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103120" y="2743200"/>
            <a:ext cx="137160" cy="182880"/>
          </a:xfrm>
          <a:prstGeom prst="rect">
            <a:avLst/>
          </a:prstGeom>
          <a:solidFill>
            <a:srgbClr val="21C1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86000" y="2743200"/>
            <a:ext cx="137160" cy="182880"/>
          </a:xfrm>
          <a:prstGeom prst="rect">
            <a:avLst/>
          </a:prstGeom>
          <a:solidFill>
            <a:srgbClr val="21C1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468880" y="2743200"/>
            <a:ext cx="137160" cy="182880"/>
          </a:xfrm>
          <a:prstGeom prst="rect">
            <a:avLst/>
          </a:prstGeom>
          <a:solidFill>
            <a:srgbClr val="21C1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651760" y="2743200"/>
            <a:ext cx="137160" cy="182880"/>
          </a:xfrm>
          <a:prstGeom prst="rect">
            <a:avLst/>
          </a:prstGeom>
          <a:solidFill>
            <a:srgbClr val="21C1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834640" y="2743200"/>
            <a:ext cx="137160" cy="182880"/>
          </a:xfrm>
          <a:prstGeom prst="rect">
            <a:avLst/>
          </a:prstGeom>
          <a:solidFill>
            <a:srgbClr val="21C1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017520" y="2743200"/>
            <a:ext cx="137160" cy="182880"/>
          </a:xfrm>
          <a:prstGeom prst="rect">
            <a:avLst/>
          </a:prstGeom>
          <a:solidFill>
            <a:srgbClr val="21C1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737360" y="297180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앞 18층은 학습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114800" y="297180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나머지 16층은 Identity만 하면 됨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223760" y="235915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현실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223760" y="260604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34층이</a:t>
            </a:r>
            <a:endParaRPr lang="en-US" sz="1200" dirty="0"/>
          </a:p>
          <a:p>
            <a:pPr marL="0" indent="0" algn="l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더 나쁨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40080" y="3429000"/>
            <a:ext cx="804672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2960" y="35204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Network에서 항등 사상이 어려운 3가지 이유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22960" y="3858768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복잡한 연산의 굴레: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ReLU(W·x+b)가 정확히 x가 되려면 W≈단위행렬, b=0 필요</a:t>
            </a:r>
            <a:endParaRPr lang="en-US" sz="1150" dirty="0"/>
          </a:p>
          <a:p>
            <a:pPr marL="0" indent="0" algn="l">
              <a:buNone/>
            </a:pPr>
            <a:r>
              <a:rPr lang="en-US" sz="11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비선형성의 왜곡: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ReLU는 음수를 0으로 만듦 → 한 번 손실된 정보는 복구 불가</a:t>
            </a:r>
            <a:endParaRPr lang="en-US" sz="1150" dirty="0"/>
          </a:p>
          <a:p>
            <a:pPr marL="0" indent="0" algn="l">
              <a:buNone/>
            </a:pPr>
            <a:r>
              <a:rPr lang="en-US" sz="11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누적 오류: </a:t>
            </a: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한 층에서 99%만 복사해도 30층 후엔 0.99³⁰ ≈ 0.73으로 왜곡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 핵심 기술 정리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13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34747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잔차 연결: 구조적 해결책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"모델이 항등 사상을 배우기 어려우니, 아예 구조적으로 항등 사상을 기본값(Default)으로 넣어주자!"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8046720" cy="1280160"/>
          </a:xfrm>
          <a:prstGeom prst="rect">
            <a:avLst/>
          </a:prstGeom>
          <a:solidFill>
            <a:srgbClr val="0A25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664208"/>
            <a:ext cx="8046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i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H</a:t>
            </a:r>
            <a:r>
              <a:rPr lang="en-US" sz="480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</a:t>
            </a:r>
            <a:r>
              <a:rPr lang="en-US" sz="4800" i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</a:t>
            </a:r>
            <a:r>
              <a:rPr lang="en-US" sz="480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  =  </a:t>
            </a:r>
            <a:r>
              <a:rPr lang="en-US" sz="4800" b="1" i="1" dirty="0">
                <a:solidFill>
                  <a:srgbClr val="21C1D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</a:t>
            </a:r>
            <a:r>
              <a:rPr lang="en-US" sz="4800" dirty="0">
                <a:solidFill>
                  <a:srgbClr val="21C1D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</a:t>
            </a:r>
            <a:r>
              <a:rPr lang="en-US" sz="4800" i="1" dirty="0">
                <a:solidFill>
                  <a:srgbClr val="21C1D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</a:t>
            </a:r>
            <a:r>
              <a:rPr lang="en-US" sz="4800" dirty="0">
                <a:solidFill>
                  <a:srgbClr val="21C1D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</a:t>
            </a:r>
            <a:r>
              <a:rPr lang="en-US" sz="480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+  </a:t>
            </a:r>
            <a:r>
              <a:rPr lang="en-US" sz="4800" b="1" i="1" dirty="0">
                <a:solidFill>
                  <a:srgbClr val="FFD1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출력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=  </a:t>
            </a:r>
            <a:r>
              <a:rPr lang="en-US" sz="1200" b="1" dirty="0">
                <a:solidFill>
                  <a:srgbClr val="21C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학습할 잔차 (Residual)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</a:t>
            </a: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지름길로 전달되는 입력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5966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✓ </a:t>
            </a:r>
            <a:r>
              <a:rPr lang="en-US" sz="1400" b="1" i="1" dirty="0">
                <a:solidFill>
                  <a:srgbClr val="05966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</a:t>
            </a:r>
            <a:r>
              <a:rPr lang="en-US" sz="1400" b="1" dirty="0">
                <a:solidFill>
                  <a:srgbClr val="05966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</a:t>
            </a:r>
            <a:r>
              <a:rPr lang="en-US" sz="1400" b="1" i="1" dirty="0">
                <a:solidFill>
                  <a:srgbClr val="05966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</a:t>
            </a:r>
            <a:r>
              <a:rPr lang="en-US" sz="1400" b="1" dirty="0">
                <a:solidFill>
                  <a:srgbClr val="05966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 ≈ 0  이면 자동으로  </a:t>
            </a:r>
            <a:r>
              <a:rPr lang="en-US" sz="1400" b="1" i="1" dirty="0">
                <a:solidFill>
                  <a:srgbClr val="05966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H</a:t>
            </a:r>
            <a:r>
              <a:rPr lang="en-US" sz="1400" b="1" dirty="0">
                <a:solidFill>
                  <a:srgbClr val="05966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</a:t>
            </a:r>
            <a:r>
              <a:rPr lang="en-US" sz="1400" b="1" i="1" dirty="0">
                <a:solidFill>
                  <a:srgbClr val="05966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</a:t>
            </a:r>
            <a:r>
              <a:rPr lang="en-US" sz="1400" b="1" dirty="0">
                <a:solidFill>
                  <a:srgbClr val="05966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 = </a:t>
            </a:r>
            <a:r>
              <a:rPr lang="en-US" sz="1400" b="1" i="1" dirty="0">
                <a:solidFill>
                  <a:srgbClr val="059669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3375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즉, 항등 사상이 '학습해서 도달해야 할 목표'가 아니라 '아무것도 안 해도 얻어지는 기본값'이 됨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794760"/>
            <a:ext cx="3931920" cy="868680"/>
          </a:xfrm>
          <a:prstGeom prst="rect">
            <a:avLst/>
          </a:prstGeom>
          <a:solidFill>
            <a:srgbClr val="FEF3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794760"/>
            <a:ext cx="73152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858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 Plain Network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413308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백지 상태에서 명화를 그리는 것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(H(x) 전체를 처음부터 학습)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3794760"/>
            <a:ext cx="3931920" cy="868680"/>
          </a:xfrm>
          <a:prstGeom prst="rect">
            <a:avLst/>
          </a:prstGeom>
          <a:solidFill>
            <a:srgbClr val="D1FA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54880" y="3794760"/>
            <a:ext cx="73152" cy="868680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3858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🖌️  ResNet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983480" y="413308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밑그림 위에 명암만 살짝 조절하는 것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(F(x) 잔차만 학습 — 훨씬 쉬움)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 핵심 기술 정리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13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34747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왜 F(x) = 0을 만드는 게 쉬운가?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시스템의 본성과 학습 목표가 일치 — Weight Decay가 가중치를 자연스럽게 0으로 끌어당김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371600" y="1508760"/>
            <a:ext cx="6400800" cy="502920"/>
          </a:xfrm>
          <a:prstGeom prst="rect">
            <a:avLst/>
          </a:prstGeom>
          <a:solidFill>
            <a:srgbClr val="E8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5087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잔차 블록:   </a:t>
            </a:r>
            <a:r>
              <a:rPr lang="en-US" sz="1800" b="1" i="1" dirty="0">
                <a:solidFill>
                  <a:srgbClr val="0A254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</a:t>
            </a:r>
            <a:r>
              <a:rPr lang="en-US" sz="1800" dirty="0">
                <a:solidFill>
                  <a:srgbClr val="0A254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</a:t>
            </a:r>
            <a:r>
              <a:rPr lang="en-US" sz="1800" i="1" dirty="0">
                <a:solidFill>
                  <a:srgbClr val="0A254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</a:t>
            </a:r>
            <a:r>
              <a:rPr lang="en-US" sz="1800" dirty="0">
                <a:solidFill>
                  <a:srgbClr val="0A254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  =  </a:t>
            </a:r>
            <a:r>
              <a:rPr lang="en-US" sz="1800" b="1" i="1" dirty="0">
                <a:solidFill>
                  <a:srgbClr val="065A8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</a:t>
            </a:r>
            <a:r>
              <a:rPr lang="en-US" sz="1400" b="1" dirty="0">
                <a:solidFill>
                  <a:srgbClr val="065A8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₂</a:t>
            </a:r>
            <a:r>
              <a:rPr lang="en-US" sz="1800" dirty="0">
                <a:solidFill>
                  <a:srgbClr val="0A254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·  ReLU( </a:t>
            </a:r>
            <a:r>
              <a:rPr lang="en-US" sz="1800" b="1" i="1" dirty="0">
                <a:solidFill>
                  <a:srgbClr val="065A8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</a:t>
            </a:r>
            <a:r>
              <a:rPr lang="en-US" sz="1400" b="1" dirty="0">
                <a:solidFill>
                  <a:srgbClr val="065A8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₁</a:t>
            </a:r>
            <a:r>
              <a:rPr lang="en-US" sz="1800" dirty="0">
                <a:solidFill>
                  <a:srgbClr val="0A254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·  </a:t>
            </a:r>
            <a:r>
              <a:rPr lang="en-US" sz="1800" i="1" dirty="0">
                <a:solidFill>
                  <a:srgbClr val="0A254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</a:t>
            </a:r>
            <a:r>
              <a:rPr lang="en-US" sz="1800" dirty="0">
                <a:solidFill>
                  <a:srgbClr val="0A254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2560320" cy="960120"/>
          </a:xfrm>
          <a:prstGeom prst="rect">
            <a:avLst/>
          </a:prstGeom>
          <a:solidFill>
            <a:srgbClr val="E8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359152"/>
            <a:ext cx="365760" cy="3657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2359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286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i="1" dirty="0">
                <a:solidFill>
                  <a:srgbClr val="0A254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</a:t>
            </a:r>
            <a:r>
              <a:rPr lang="en-US" sz="1200" b="1" dirty="0">
                <a:solidFill>
                  <a:srgbClr val="0A254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₁</a:t>
            </a:r>
            <a:r>
              <a:rPr lang="en-US" sz="1600" b="1" dirty="0">
                <a:solidFill>
                  <a:srgbClr val="0A254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→ 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2743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W₁·x의 결과가 모두 0에 수렴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00400" y="24688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1C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3383280" y="2194560"/>
            <a:ext cx="2560320" cy="960120"/>
          </a:xfrm>
          <a:prstGeom prst="rect">
            <a:avLst/>
          </a:prstGeom>
          <a:solidFill>
            <a:srgbClr val="E8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66160" y="2359152"/>
            <a:ext cx="365760" cy="3657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566160" y="2359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023360" y="2286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0A254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ReLU(0) = 0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566160" y="2743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활성화 함수 통과 후에도 0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0" y="246888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1C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126480" y="2194560"/>
            <a:ext cx="2560320" cy="960120"/>
          </a:xfrm>
          <a:prstGeom prst="rect">
            <a:avLst/>
          </a:prstGeom>
          <a:solidFill>
            <a:srgbClr val="E8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09360" y="2359152"/>
            <a:ext cx="365760" cy="36576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09360" y="2359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66560" y="2286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i="1" dirty="0">
                <a:solidFill>
                  <a:srgbClr val="0A254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F(x) ≈ 0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09360" y="27432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W₂를 곱해도 결과는 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0080" y="3337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학습의 출발선 자체가 다르다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640080" y="3703320"/>
            <a:ext cx="3931920" cy="1005840"/>
          </a:xfrm>
          <a:prstGeom prst="rect">
            <a:avLst/>
          </a:prstGeom>
          <a:solidFill>
            <a:srgbClr val="FDE8E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3703320"/>
            <a:ext cx="73152" cy="1005840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3767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Net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68680" y="4041648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50개 층을 지나면 원본 x가 뭉개진 상태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7F1D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'이걸 다시 x로 복구해봐!'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3703320"/>
            <a:ext cx="3931920" cy="1005840"/>
          </a:xfrm>
          <a:prstGeom prst="rect">
            <a:avLst/>
          </a:prstGeom>
          <a:solidFill>
            <a:srgbClr val="D1FA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54880" y="3703320"/>
            <a:ext cx="73152" cy="1005840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3767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83480" y="4041648"/>
            <a:ext cx="3611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시작부터 F(x) ≈ 0 → 이미 항등 사상에 근접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064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성능 하한선 보장된 상태에서 학습 시작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 핵심 기술 정리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34747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수학적 증명: '지름길'의 힘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Backpropagation에서 기울기가 어떻게 전달되는지 수식으로 살펴봅시다.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32588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1.  최종 출력의 형태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536192"/>
            <a:ext cx="8046720" cy="868680"/>
          </a:xfrm>
          <a:prstGeom prst="rect">
            <a:avLst/>
          </a:prstGeom>
          <a:solidFill>
            <a:srgbClr val="E8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17373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i="1" dirty="0">
                <a:solidFill>
                  <a:srgbClr val="0A254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737360" y="190195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i="1" dirty="0">
                <a:solidFill>
                  <a:srgbClr val="0A254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011680" y="17373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A254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=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514600" y="17373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i="1" dirty="0">
                <a:solidFill>
                  <a:srgbClr val="0A254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761488" y="1901952"/>
            <a:ext cx="2011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i="1" dirty="0">
                <a:solidFill>
                  <a:srgbClr val="0A254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017520" y="17373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A254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+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429000" y="1609344"/>
            <a:ext cx="640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65A8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L−1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593592" y="1732788"/>
            <a:ext cx="320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65A8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∑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3429000" y="2212848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65A8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 = ℓ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60520" y="1737360"/>
            <a:ext cx="320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i="1" dirty="0">
                <a:solidFill>
                  <a:srgbClr val="065A8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4462272" y="17373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0A254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617720" y="173736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i="1" dirty="0">
                <a:solidFill>
                  <a:srgbClr val="0A254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864608" y="1901952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i="1" dirty="0">
                <a:solidFill>
                  <a:srgbClr val="0A254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029200" y="1737360"/>
            <a:ext cx="164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0A254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,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212080" y="173736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i="1" dirty="0">
                <a:solidFill>
                  <a:srgbClr val="0A254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5550408" y="1901952"/>
            <a:ext cx="164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i="1" dirty="0">
                <a:solidFill>
                  <a:srgbClr val="0A254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i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715000" y="17373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dirty="0">
                <a:solidFill>
                  <a:srgbClr val="0A254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40080" y="2450592"/>
            <a:ext cx="8046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최종 층 = 초기 층의 정보 + 거쳐온 잔차(Residual)들의 합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0080" y="272491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2.  연쇄 법칙으로 기울기 계산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" y="2982722"/>
            <a:ext cx="8046720" cy="1353312"/>
          </a:xfrm>
          <a:prstGeom prst="rect">
            <a:avLst/>
          </a:prstGeom>
          <a:solidFill>
            <a:srgbClr val="0A25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30632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21C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 연쇄 법칙 적용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417320" y="32004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∂Loss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508760" y="3419856"/>
            <a:ext cx="640080" cy="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17320" y="345643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∂</a:t>
            </a:r>
            <a:r>
              <a:rPr lang="en-US" sz="1200" b="1" i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</a:t>
            </a:r>
            <a:r>
              <a:rPr lang="en-US" sz="900" b="1" i="1" baseline="-4000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ℓ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286000" y="3291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=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2606040" y="32004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∂Loss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697480" y="3419856"/>
            <a:ext cx="640080" cy="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06040" y="345643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∂</a:t>
            </a:r>
            <a:r>
              <a:rPr lang="en-US" sz="1200" b="1" i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</a:t>
            </a:r>
            <a:r>
              <a:rPr lang="en-US" sz="900" b="1" i="1" baseline="-4000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474720" y="3291840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·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3703320" y="320040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D1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∂</a:t>
            </a:r>
            <a:r>
              <a:rPr lang="en-US" sz="1200" b="1" i="1" dirty="0">
                <a:solidFill>
                  <a:srgbClr val="FFD1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</a:t>
            </a:r>
            <a:r>
              <a:rPr lang="en-US" sz="900" b="1" i="1" baseline="-40000" dirty="0">
                <a:solidFill>
                  <a:srgbClr val="FFD1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794760" y="3419856"/>
            <a:ext cx="640080" cy="0"/>
          </a:xfrm>
          <a:prstGeom prst="line">
            <a:avLst/>
          </a:prstGeom>
          <a:noFill/>
          <a:ln w="15240">
            <a:solidFill>
              <a:srgbClr val="FFD16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03320" y="345643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D1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∂</a:t>
            </a:r>
            <a:r>
              <a:rPr lang="en-US" sz="1200" b="1" i="1" dirty="0">
                <a:solidFill>
                  <a:srgbClr val="FFD1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</a:t>
            </a:r>
            <a:r>
              <a:rPr lang="en-US" sz="900" b="1" i="1" baseline="-40000" dirty="0">
                <a:solidFill>
                  <a:srgbClr val="FFD16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ℓ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624070" y="316382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 부분에 Step 1 대입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 flipH="1">
            <a:off x="4315968" y="3297936"/>
            <a:ext cx="210312" cy="0"/>
          </a:xfrm>
          <a:prstGeom prst="line">
            <a:avLst/>
          </a:prstGeom>
          <a:noFill/>
          <a:ln w="25400">
            <a:solidFill>
              <a:srgbClr val="FFD166"/>
            </a:solidFill>
            <a:prstDash val="solid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822960" y="365760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200" dirty="0">
                <a:solidFill>
                  <a:srgbClr val="21C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 Step 1 대입 후 전개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868680" y="382219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∂Loss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960120" y="4041648"/>
            <a:ext cx="640080" cy="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68680" y="407822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∂</a:t>
            </a:r>
            <a:r>
              <a:rPr lang="en-US" sz="1200" b="1" i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</a:t>
            </a:r>
            <a:r>
              <a:rPr lang="en-US" sz="900" b="1" i="1" baseline="-4000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ℓ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737360" y="3913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=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2057400" y="382219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∂Loss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2148840" y="4041648"/>
            <a:ext cx="640080" cy="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057400" y="407822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∂</a:t>
            </a:r>
            <a:r>
              <a:rPr lang="en-US" sz="1200" b="1" i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</a:t>
            </a:r>
            <a:r>
              <a:rPr lang="en-US" sz="900" b="1" i="1" baseline="-4000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2926080" y="3913632"/>
            <a:ext cx="182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·</a:t>
            </a:r>
            <a:endParaRPr lang="en-US" sz="2000" dirty="0"/>
          </a:p>
        </p:txBody>
      </p:sp>
      <p:sp>
        <p:nvSpPr>
          <p:cNvPr id="51" name="Text 49"/>
          <p:cNvSpPr/>
          <p:nvPr/>
        </p:nvSpPr>
        <p:spPr>
          <a:xfrm>
            <a:off x="3108960" y="3840480"/>
            <a:ext cx="164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</a:t>
            </a:r>
            <a:endParaRPr lang="en-US" sz="3000" dirty="0"/>
          </a:p>
        </p:txBody>
      </p:sp>
      <p:sp>
        <p:nvSpPr>
          <p:cNvPr id="52" name="Shape 50"/>
          <p:cNvSpPr/>
          <p:nvPr/>
        </p:nvSpPr>
        <p:spPr>
          <a:xfrm>
            <a:off x="3337560" y="3867912"/>
            <a:ext cx="365760" cy="365760"/>
          </a:xfrm>
          <a:prstGeom prst="ellipse">
            <a:avLst/>
          </a:prstGeom>
          <a:solidFill>
            <a:srgbClr val="FFD1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337560" y="3867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A254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1</a:t>
            </a:r>
            <a:endParaRPr lang="en-US" sz="1800" dirty="0"/>
          </a:p>
        </p:txBody>
      </p:sp>
      <p:sp>
        <p:nvSpPr>
          <p:cNvPr id="54" name="Text 52"/>
          <p:cNvSpPr/>
          <p:nvPr/>
        </p:nvSpPr>
        <p:spPr>
          <a:xfrm>
            <a:off x="3749040" y="3913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+</a:t>
            </a:r>
            <a:endParaRPr lang="en-US" sz="1800" dirty="0"/>
          </a:p>
        </p:txBody>
      </p:sp>
      <p:sp>
        <p:nvSpPr>
          <p:cNvPr id="55" name="Text 53"/>
          <p:cNvSpPr/>
          <p:nvPr/>
        </p:nvSpPr>
        <p:spPr>
          <a:xfrm>
            <a:off x="4114800" y="382219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∂(</a:t>
            </a:r>
            <a:r>
              <a:rPr lang="en-US" sz="1400" b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∑</a:t>
            </a:r>
            <a:r>
              <a:rPr lang="en-US" sz="1200" b="1" i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F</a:t>
            </a:r>
            <a:r>
              <a:rPr lang="en-US" sz="120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206240" y="4041648"/>
            <a:ext cx="640080" cy="0"/>
          </a:xfrm>
          <a:prstGeom prst="line">
            <a:avLst/>
          </a:prstGeom>
          <a:noFill/>
          <a:ln w="1524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114800" y="407822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∂</a:t>
            </a:r>
            <a:r>
              <a:rPr lang="en-US" sz="1200" b="1" i="1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</a:t>
            </a:r>
            <a:r>
              <a:rPr lang="en-US" sz="900" b="1" i="1" baseline="-4000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ℓ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4983480" y="3840480"/>
            <a:ext cx="164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FFFFFF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</a:t>
            </a:r>
            <a:endParaRPr lang="en-US" sz="3000" dirty="0"/>
          </a:p>
        </p:txBody>
      </p:sp>
      <p:sp>
        <p:nvSpPr>
          <p:cNvPr id="59" name="Text 57"/>
          <p:cNvSpPr/>
          <p:nvPr/>
        </p:nvSpPr>
        <p:spPr>
          <a:xfrm>
            <a:off x="5303520" y="39136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i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'1'이 등장!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640080" y="4462272"/>
            <a:ext cx="8046720" cy="292608"/>
          </a:xfrm>
          <a:prstGeom prst="rect">
            <a:avLst/>
          </a:prstGeom>
          <a:solidFill>
            <a:srgbClr val="FFFBEB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13232" y="4462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0000"/>
                </a:solidFill>
              </a:rPr>
              <a:t>💡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1024128" y="4462272"/>
            <a:ext cx="7498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'1'이 강력한가?  </a:t>
            </a:r>
            <a:r>
              <a:rPr lang="en-US" sz="9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뒤쪽 미분값이 0에 가까워져도 앞의 </a:t>
            </a:r>
            <a:r>
              <a:rPr lang="en-US" sz="95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'1'</a:t>
            </a:r>
            <a:r>
              <a:rPr lang="en-US" sz="950" dirty="0">
                <a:solidFill>
                  <a:srgbClr val="7835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덕분에 기울기가 그대로 전달 → 152층, 1000층에서도 초기 층에 신호 도달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 핵심 기술 정리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13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34747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배치 정규화: 잔차 연결의 동반자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잔차 연결이 길을 터주고, BN이 그 길을 안정화한다.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8046720" cy="1005840"/>
          </a:xfrm>
          <a:prstGeom prst="rect">
            <a:avLst/>
          </a:prstGeom>
          <a:solidFill>
            <a:srgbClr val="E8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5544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4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 기본 원리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0A254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x̂</a:t>
            </a:r>
            <a:r>
              <a:rPr lang="en-US" sz="1800" b="1" dirty="0">
                <a:solidFill>
                  <a:srgbClr val="0A254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=  </a:t>
            </a:r>
            <a:r>
              <a:rPr lang="en-US" sz="2000" b="1" dirty="0">
                <a:solidFill>
                  <a:srgbClr val="0A254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(</a:t>
            </a:r>
            <a:r>
              <a:rPr lang="en-US" sz="2000" b="1" i="1" dirty="0">
                <a:solidFill>
                  <a:srgbClr val="0A254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</a:t>
            </a:r>
            <a:r>
              <a:rPr lang="en-US" sz="1800" b="1" dirty="0">
                <a:solidFill>
                  <a:srgbClr val="0A254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−  </a:t>
            </a:r>
            <a:r>
              <a:rPr lang="en-US" sz="2000" b="1" i="1" dirty="0">
                <a:solidFill>
                  <a:srgbClr val="065A8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μ</a:t>
            </a:r>
            <a:r>
              <a:rPr lang="en-US" sz="2000" b="1" dirty="0">
                <a:solidFill>
                  <a:srgbClr val="0A254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)</a:t>
            </a:r>
            <a:r>
              <a:rPr lang="en-US" sz="1800" b="1" dirty="0">
                <a:solidFill>
                  <a:srgbClr val="0A254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∕  </a:t>
            </a:r>
            <a:r>
              <a:rPr lang="en-US" sz="2000" b="1" dirty="0">
                <a:solidFill>
                  <a:srgbClr val="0A254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√( </a:t>
            </a:r>
            <a:r>
              <a:rPr lang="en-US" sz="2000" b="1" i="1" dirty="0">
                <a:solidFill>
                  <a:srgbClr val="065A8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σ</a:t>
            </a:r>
            <a:r>
              <a:rPr lang="en-US" sz="1400" b="1" dirty="0">
                <a:solidFill>
                  <a:srgbClr val="065A82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²</a:t>
            </a:r>
            <a:r>
              <a:rPr lang="en-US" sz="1800" b="1" dirty="0">
                <a:solidFill>
                  <a:srgbClr val="0A254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+  </a:t>
            </a:r>
            <a:r>
              <a:rPr lang="en-US" sz="2000" b="1" i="1" dirty="0">
                <a:solidFill>
                  <a:srgbClr val="64748B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ε</a:t>
            </a:r>
            <a:r>
              <a:rPr lang="en-US" sz="2000" b="1" dirty="0">
                <a:solidFill>
                  <a:srgbClr val="0A254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)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63440" y="1783080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1C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029200" y="178308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i="1" dirty="0">
                <a:solidFill>
                  <a:srgbClr val="0A254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y</a:t>
            </a:r>
            <a:r>
              <a:rPr lang="en-US" sz="1800" b="1" dirty="0">
                <a:solidFill>
                  <a:srgbClr val="0A254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=  </a:t>
            </a:r>
            <a:r>
              <a:rPr lang="en-US" sz="2000" b="1" i="1" dirty="0">
                <a:solidFill>
                  <a:srgbClr val="21C1D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γ</a:t>
            </a:r>
            <a:r>
              <a:rPr lang="en-US" sz="1800" b="1" dirty="0">
                <a:solidFill>
                  <a:srgbClr val="0A254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·  </a:t>
            </a:r>
            <a:r>
              <a:rPr lang="en-US" sz="2000" b="1" i="1" dirty="0">
                <a:solidFill>
                  <a:srgbClr val="0A254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x̂</a:t>
            </a:r>
            <a:r>
              <a:rPr lang="en-US" sz="1800" b="1" dirty="0">
                <a:solidFill>
                  <a:srgbClr val="0A254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 +  </a:t>
            </a:r>
            <a:r>
              <a:rPr lang="en-US" sz="2000" b="1" i="1" dirty="0">
                <a:solidFill>
                  <a:srgbClr val="21C1D6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β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40080" y="221284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정규화  (평균 0, 분산 1)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029200" y="221284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(γ) &amp; Shift (β)로 유연성 확보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40080" y="265176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2651760"/>
            <a:ext cx="256032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27889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🛡️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731520" y="3291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기울기 안정화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3566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가중치 초기화에 덜 민감,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기울기 폭주/소실 방지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83280" y="265176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83280" y="2651760"/>
            <a:ext cx="256032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27889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⚡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474720" y="3291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학습 속도 향상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520440" y="3566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높은 학습률 허용 →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발산 없이 빠른 수렴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126480" y="2651760"/>
            <a:ext cx="256032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26480" y="2651760"/>
            <a:ext cx="256032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27889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🎯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6217920" y="3291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정규화 효과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263640" y="3566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미니배치 노이즈가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유사 효과 제공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4206240"/>
            <a:ext cx="8046720" cy="457200"/>
          </a:xfrm>
          <a:prstGeom prst="rect">
            <a:avLst/>
          </a:prstGeom>
          <a:solidFill>
            <a:srgbClr val="0A25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42062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 → BN → ReLU → Conv → BN → Add → ReLU  (ResNet v1 블록 순서)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 핵심 기술 정리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13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34747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ResNet v2: 더 순수한 항등 사상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후속 논문(2016)에서 제안한 Pre-activation 구조 — 더 깨끗한 Identity Path를 만들다.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3931920" cy="1691640"/>
          </a:xfrm>
          <a:prstGeom prst="rect">
            <a:avLst/>
          </a:prstGeom>
          <a:solidFill>
            <a:srgbClr val="E8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(original)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ResNet v1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22860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 → BN → ReLU →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 → BN → Add → ReLU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2880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i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Add 이후 ReLU — 음수 정보 손실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554480"/>
            <a:ext cx="3931920" cy="1691640"/>
          </a:xfrm>
          <a:prstGeom prst="rect">
            <a:avLst/>
          </a:prstGeom>
          <a:solidFill>
            <a:srgbClr val="D1FA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554480"/>
            <a:ext cx="73152" cy="1691640"/>
          </a:xfrm>
          <a:prstGeom prst="rect">
            <a:avLst/>
          </a:prstGeom>
          <a:solidFill>
            <a:srgbClr val="05966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1645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(pre-activation)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8348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64E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ResNet v2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983480" y="22860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064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BN → ReLU → Conv →</a:t>
            </a:r>
            <a:endParaRPr lang="en-US" sz="1100" dirty="0"/>
          </a:p>
          <a:p>
            <a:pPr marL="0" indent="0" algn="l">
              <a:buNone/>
            </a:pPr>
            <a:r>
              <a:rPr lang="en-US" sz="1100" b="1" dirty="0">
                <a:solidFill>
                  <a:srgbClr val="064E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BN → ReLU → Conv → Add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83480" y="2880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i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Clean Identity Path — 순수한 x 전달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34290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v2의 놀라운 성과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3794760"/>
            <a:ext cx="39319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21C1D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38587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1001층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2651760" y="385876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CIFAR-10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4.62% 에러 (v1 대비 ~3% 개선)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3794760"/>
            <a:ext cx="3931920" cy="822960"/>
          </a:xfrm>
          <a:prstGeom prst="rect">
            <a:avLst/>
          </a:prstGeom>
          <a:solidFill>
            <a:srgbClr val="FFFFFF"/>
          </a:solidFill>
          <a:ln w="19050">
            <a:solidFill>
              <a:srgbClr val="21C1D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385876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200층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766560" y="385876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ImageNet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단일 모델 성능 향상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 핵심 기술 정리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13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6576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65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097280" y="347472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0A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최종 요약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ResNet이 깊은 신경망 학습에 성공한 비결 — 문제를 명확히 정의하고, 구조적 해결책을 제시한 것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8046720" cy="594360"/>
          </a:xfrm>
          <a:prstGeom prst="rect">
            <a:avLst/>
          </a:prstGeom>
          <a:solidFill>
            <a:srgbClr val="E8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0020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1C1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17320" y="16459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정의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190195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063240" y="160020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깊이를 막는 것은 기울기 소실보다 '성능 저하' — 모델이 항등 사상조차 배우지 못하는 최적화의 실패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286000"/>
            <a:ext cx="8046720" cy="594360"/>
          </a:xfrm>
          <a:prstGeom prst="rect">
            <a:avLst/>
          </a:prstGeom>
          <a:solidFill>
            <a:srgbClr val="E8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28600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1C1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17320" y="23317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해결책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17320" y="258775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063240" y="228600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H(x) = F(x) + x — 항등 사상을 '학습 목표'가 아닌 '기본값'으로 전환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2971800"/>
            <a:ext cx="8046720" cy="594360"/>
          </a:xfrm>
          <a:prstGeom prst="rect">
            <a:avLst/>
          </a:prstGeom>
          <a:solidFill>
            <a:srgbClr val="E8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297180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1C1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17320" y="3017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안정화 장치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417320" y="327355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STABILIZER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063240" y="297180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Normalization — 기울기 흐름 안정화, 높은 학습률 허용, 정규화 효과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3657600"/>
            <a:ext cx="8046720" cy="594360"/>
          </a:xfrm>
          <a:prstGeom prst="rect">
            <a:avLst/>
          </a:prstGeom>
          <a:solidFill>
            <a:srgbClr val="E8F1F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365760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21C1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417320" y="37033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구조적 진화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17320" y="395935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00" kern="0" spc="3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EVOLUTION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063240" y="365760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 v2의 Pre-activation — 1001층에서 CIFAR-10 4.62% 에러 달성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80060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 핵심 기술 정리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772400" y="480060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25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065A82">
              <a:alpha val="5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3657600" cy="3657600"/>
          </a:xfrm>
          <a:prstGeom prst="ellipse">
            <a:avLst/>
          </a:prstGeom>
          <a:solidFill>
            <a:srgbClr val="21C1D6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371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600" dirty="0">
                <a:solidFill>
                  <a:srgbClr val="21C1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 SUMMARY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"깊은 망은 단순한 복사(Identity)조차 제대로 못 한다"는 무능함을,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514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"일단 복사해 두고, 필요한 만큼만 수정해라"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CBD5E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라는 구조적 지름길로 해결했다.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114800" y="4023360"/>
            <a:ext cx="914400" cy="36576"/>
          </a:xfrm>
          <a:prstGeom prst="rect">
            <a:avLst/>
          </a:prstGeom>
          <a:solidFill>
            <a:srgbClr val="21C1D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1605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21C1D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1305</Words>
  <Application>Microsoft Office PowerPoint</Application>
  <PresentationFormat>화면 슬라이드 쇼(16:9)</PresentationFormat>
  <Paragraphs>268</Paragraphs>
  <Slides>13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0" baseType="lpstr">
      <vt:lpstr>맑은 고딕</vt:lpstr>
      <vt:lpstr>Arial</vt:lpstr>
      <vt:lpstr>Calibri</vt:lpstr>
      <vt:lpstr>Cambria Math</vt:lpstr>
      <vt:lpstr>Consolas</vt:lpstr>
      <vt:lpstr>Georgia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ResNet 핵심 기술 정리</dc:title>
  <dc:subject>PptxGenJS Presentation</dc:subject>
  <dc:creator>AI Study</dc:creator>
  <cp:lastModifiedBy>Seunghyun Mun</cp:lastModifiedBy>
  <cp:revision>2</cp:revision>
  <dcterms:created xsi:type="dcterms:W3CDTF">2026-04-17T17:44:52Z</dcterms:created>
  <dcterms:modified xsi:type="dcterms:W3CDTF">2026-04-17T17:51:36Z</dcterms:modified>
</cp:coreProperties>
</file>